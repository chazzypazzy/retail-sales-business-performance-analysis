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8768885013534381"/>
          <c:y val="5.2410901467505239E-2"/>
          <c:w val="0.77860026305436658"/>
          <c:h val="0.83049406560029049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Invoices</c:v>
                </c:pt>
              </c:strCache>
            </c:strRef>
          </c:tx>
          <c:spPr>
            <a:solidFill>
              <a:srgbClr val="2363EB"/>
            </a:solidFill>
            <a:ln>
              <a:solidFill>
                <a:srgbClr val="2363EB"/>
              </a:solidFill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Electronics + Home</c:v>
                </c:pt>
                <c:pt idx="1">
                  <c:v>Electronics + Fashion</c:v>
                </c:pt>
                <c:pt idx="2">
                  <c:v>Fashion + Home</c:v>
                </c:pt>
                <c:pt idx="3">
                  <c:v>Grocery + Home</c:v>
                </c:pt>
                <c:pt idx="4">
                  <c:v>Electronics + Grocery</c:v>
                </c:pt>
                <c:pt idx="5">
                  <c:v>Electronics + Personal Care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118</c:v>
                </c:pt>
                <c:pt idx="1">
                  <c:v>93</c:v>
                </c:pt>
                <c:pt idx="2">
                  <c:v>81</c:v>
                </c:pt>
                <c:pt idx="3">
                  <c:v>48</c:v>
                </c:pt>
                <c:pt idx="4">
                  <c:v>47</c:v>
                </c:pt>
                <c:pt idx="5">
                  <c:v>44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2363EB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1066-449A-A344-F119B1621A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75569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75569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2F508D-BBB9-4C77-8BCC-E77881126BAC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26DB-1744-4C0D-AB77-62FFBDEC7F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4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26DB-1744-4C0D-AB77-62FFBDEC7F8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491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Retail Sales &amp; Business 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7190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CBD5E1"/>
                </a:solidFill>
              </a:defRPr>
            </a:pPr>
            <a:r>
              <a:t>Power BI / DAX analysis of retail invoice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5915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Retail Invoice Dataset  |  January 2025 – August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88620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3886200"/>
            <a:ext cx="54864" cy="123444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402336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t>Net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315968"/>
            <a:ext cx="20574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lang="en-US" dirty="0" smtClean="0"/>
              <a:t>40.10M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3410712" y="388620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10712" y="3886200"/>
            <a:ext cx="54864" cy="12344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75304" y="402336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t>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4" y="4315968"/>
            <a:ext cx="20574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lang="en-US" dirty="0" smtClean="0"/>
              <a:t>8.95M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6108192" y="388620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08192" y="3886200"/>
            <a:ext cx="54864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72784" y="402336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t>Invoices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4315968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t>575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05672" y="388620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05672" y="3886200"/>
            <a:ext cx="54864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70264" y="4023360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t>Customers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0264" y="4315968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t>364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669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</a:defRPr>
            </a:pPr>
            <a:r>
              <a:t>Arbor Data Analytics  |  Power BI Project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1207" y="6592824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FFFFF"/>
                </a:solidFill>
              </a:defRPr>
            </a:pPr>
            <a:r>
              <a:t>Retail Sales &amp; Business Performance Analysis  |  Power BI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836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</a:defRPr>
            </a:pPr>
            <a:r>
              <a:t>Project Scope &amp; Business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</a:defRPr>
            </a:pPr>
            <a:r>
              <a:t>The analysis is organized around six management questions.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42900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999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01368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</a:defRPr>
            </a:pPr>
            <a:r>
              <a:t>Discount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58568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How does discounting relate to sales volume and order value?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42900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4173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999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01368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</a:defRPr>
            </a:pPr>
            <a:r>
              <a:t>Seasonality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58568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How much uplift occurs during festive campaigns?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234440"/>
            <a:ext cx="342900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4173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999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801368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</a:defRPr>
            </a:pPr>
            <a:r>
              <a:t>Basket behavior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258568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Do multi-item baskets create higher value?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66160"/>
            <a:ext cx="342900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749039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999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33087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</a:defRPr>
            </a:pPr>
            <a:r>
              <a:t>Profit erosion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90288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How does discounting affect profitability?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66160"/>
            <a:ext cx="342900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0" y="3749039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999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133087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</a:defRPr>
            </a:pPr>
            <a:r>
              <a:t>Regional 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590288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Which states and cities contribute most?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3566160"/>
            <a:ext cx="342900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66760" y="3749039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999"/>
                </a:solidFill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133087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</a:defRPr>
            </a:pPr>
            <a:r>
              <a:t>Revenue leakage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590288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Where are returns and cancellations concentrated?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363EB"/>
                </a:solidFill>
              </a:defRPr>
            </a:pPr>
            <a:r>
              <a:t>Workflow: Excel → Data Cleaning → Data Modeling → DAX → Power BI → Business Insights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1207" y="6592824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</a:defRPr>
            </a:pPr>
            <a:r>
              <a:t>Retail Sales &amp; Business Performance Analysis  |  Power BI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836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</a:defRPr>
            </a:pPr>
            <a:r>
              <a:t>Discount Impact on Sales 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</a:defRPr>
            </a:pPr>
            <a:r>
              <a:t>Power BI page: Discount Impact  |  Moderate discounting shows the strongest sales-volume combination.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23444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543800" y="1234440"/>
            <a:ext cx="54864" cy="11430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08392" y="1371600"/>
            <a:ext cx="16001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t>Peak Sales Band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8392" y="1664208"/>
            <a:ext cx="160019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dirty="0"/>
              <a:t>₹</a:t>
            </a:r>
            <a:r>
              <a:rPr dirty="0" smtClean="0"/>
              <a:t>1</a:t>
            </a:r>
            <a:r>
              <a:rPr lang="en-US" dirty="0" smtClean="0"/>
              <a:t>3.16M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9601200" y="123444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601200" y="1234440"/>
            <a:ext cx="54864" cy="1143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65792" y="1371600"/>
            <a:ext cx="16001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t>Peak Units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65792" y="1664208"/>
            <a:ext cx="160019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dirty="0" smtClean="0"/>
              <a:t>74</a:t>
            </a:r>
            <a:r>
              <a:rPr lang="en-US" dirty="0" smtClean="0"/>
              <a:t>9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7543800" y="260604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43800" y="2606040"/>
            <a:ext cx="54864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08392" y="2743200"/>
            <a:ext cx="16001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t>Peak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8392" y="3035808"/>
            <a:ext cx="160019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dirty="0" smtClean="0"/>
              <a:t>₹</a:t>
            </a:r>
            <a:r>
              <a:rPr lang="en-US" dirty="0" smtClean="0"/>
              <a:t>85.44K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9601200" y="260604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601200" y="2606040"/>
            <a:ext cx="54864" cy="1143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65792" y="2743200"/>
            <a:ext cx="16001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t>20%+ Orders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65792" y="3035808"/>
            <a:ext cx="160019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lang="en-US" dirty="0" smtClean="0"/>
              <a:t>65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8603937" y="426567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rPr dirty="0"/>
              <a:t>Interpretation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03937" y="4636008"/>
            <a:ext cx="374903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rPr dirty="0"/>
              <a:t>• 10–20% delivers the highest sales and units.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rPr dirty="0"/>
              <a:t>• 20%+ discounting does not continue the upward trend.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rPr dirty="0"/>
              <a:t>• The relationship between discount and sales is not linear.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1207" y="6592824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</a:defRPr>
            </a:pPr>
            <a:r>
              <a:t>Retail Sales &amp; Business Performance Analysis  |  Power BI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836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</a:defRPr>
            </a:pPr>
            <a:r>
              <a:t>4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26" y="1132224"/>
            <a:ext cx="5650593" cy="322195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26" y="4480560"/>
            <a:ext cx="7964011" cy="16956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</a:defRPr>
            </a:pPr>
            <a:r>
              <a:t>Festive &amp; Seasonal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</a:defRPr>
            </a:pPr>
            <a:r>
              <a:t>Power BI page: Seasonality  |  October–December 2025 shows a strong sales and order-value uplift.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430734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15745" y="444450"/>
            <a:ext cx="54864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66760" y="582715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rPr dirty="0"/>
              <a:t>Peak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808201"/>
            <a:ext cx="30632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dirty="0"/>
              <a:t>Oct 2025 · ₹</a:t>
            </a:r>
            <a:r>
              <a:rPr dirty="0" smtClean="0"/>
              <a:t>37.5</a:t>
            </a:r>
            <a:r>
              <a:rPr lang="en-US" dirty="0" smtClean="0"/>
              <a:t>7</a:t>
            </a:r>
            <a:r>
              <a:rPr dirty="0" smtClean="0"/>
              <a:t>L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8302586" y="1829905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15745" y="1857343"/>
            <a:ext cx="54864" cy="1143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84464" y="1871469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rPr dirty="0"/>
              <a:t>Diwali Mega Sale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586" y="2029968"/>
            <a:ext cx="30632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dirty="0"/>
              <a:t>₹</a:t>
            </a:r>
            <a:r>
              <a:rPr dirty="0" smtClean="0"/>
              <a:t>6</a:t>
            </a:r>
            <a:r>
              <a:rPr lang="en-US" dirty="0" smtClean="0"/>
              <a:t>.64M</a:t>
            </a:r>
            <a:r>
              <a:rPr dirty="0" smtClean="0"/>
              <a:t> </a:t>
            </a:r>
            <a:r>
              <a:rPr dirty="0"/>
              <a:t>net sales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3172968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15745" y="3246533"/>
            <a:ext cx="54864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94192" y="3322877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t>Year End Sale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3591583"/>
            <a:ext cx="30632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dirty="0"/>
              <a:t>₹</a:t>
            </a:r>
            <a:r>
              <a:rPr dirty="0" smtClean="0"/>
              <a:t>2</a:t>
            </a:r>
            <a:r>
              <a:rPr lang="en-US" dirty="0" smtClean="0"/>
              <a:t>.11M</a:t>
            </a:r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1207" y="6592824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</a:defRPr>
            </a:pPr>
            <a:r>
              <a:t>Retail Sales &amp; Business Performance Analysis  |  Power BI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836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</a:defRPr>
            </a:pPr>
            <a:r>
              <a:t>5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" y="986564"/>
            <a:ext cx="5734850" cy="3238952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29" y="4560840"/>
            <a:ext cx="10677698" cy="14384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</a:defRPr>
            </a:pPr>
            <a:r>
              <a:t>Basket Size &amp; Combo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</a:defRPr>
            </a:pPr>
            <a:r>
              <a:t>Power BI page: Avarage basket size + combo analysis  |  Multi-item baskets are the dominant value driver.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234440"/>
            <a:ext cx="2148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089136" y="2688336"/>
            <a:ext cx="110282" cy="123444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9140" y="1298448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rPr dirty="0"/>
              <a:t>Single-item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1664208"/>
            <a:ext cx="18745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lang="en-US" dirty="0" smtClean="0"/>
              <a:t>178 item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812280" y="1234440"/>
            <a:ext cx="2148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12280" y="1234440"/>
            <a:ext cx="54864" cy="12344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76872" y="1371600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rPr dirty="0"/>
              <a:t>Multi-item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6872" y="1664208"/>
            <a:ext cx="18745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lang="en-US" dirty="0" smtClean="0"/>
              <a:t>397 item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9144000" y="1234440"/>
            <a:ext cx="2148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0" y="1234440"/>
            <a:ext cx="54864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08592" y="1371600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rPr dirty="0"/>
              <a:t>Overall </a:t>
            </a:r>
            <a:r>
              <a:rPr lang="en-US" dirty="0" smtClean="0"/>
              <a:t>single and multi item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9308592" y="1664208"/>
            <a:ext cx="18745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lang="en-US" dirty="0" smtClean="0"/>
              <a:t>575</a:t>
            </a:r>
            <a:r>
              <a:rPr dirty="0" smtClean="0"/>
              <a:t> </a:t>
            </a:r>
            <a:r>
              <a:rPr dirty="0"/>
              <a:t>items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429" y="3470426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Category pairs appearing most frequently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373786"/>
              </p:ext>
            </p:extLst>
          </p:nvPr>
        </p:nvGraphicFramePr>
        <p:xfrm>
          <a:off x="286757" y="3632593"/>
          <a:ext cx="681228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40080" y="5897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999"/>
                </a:solidFill>
              </a:defRPr>
            </a:pPr>
            <a:r>
              <a:t>Business implication: use high-frequency category pairs for bundling, cross-selling and personalized recommendations.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1207" y="6592824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</a:defRPr>
            </a:pPr>
            <a:r>
              <a:t>Retail Sales &amp; Business Performance Analysis  |  Power BI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836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</a:defRPr>
            </a:pPr>
            <a: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2674620"/>
            <a:ext cx="2148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99418" y="3079450"/>
            <a:ext cx="18745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lang="en-US" dirty="0" smtClean="0"/>
              <a:t>4.22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9178484" y="2778668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rPr lang="en-US" dirty="0" smtClean="0"/>
              <a:t>Average basket size</a:t>
            </a:r>
            <a:r>
              <a:rPr dirty="0" smtClean="0"/>
              <a:t> </a:t>
            </a:r>
            <a:endParaRPr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3847" y="4022215"/>
            <a:ext cx="2557119" cy="2244653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7764" y="2570850"/>
            <a:ext cx="4117333" cy="2524783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74" y="1045845"/>
            <a:ext cx="4027830" cy="237563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67804" y="1001155"/>
            <a:ext cx="34007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lang="en-US" sz="1600" dirty="0" smtClean="0"/>
              <a:t>Average basket value by </a:t>
            </a:r>
            <a:r>
              <a:rPr lang="en-US" sz="1600" dirty="0" err="1" smtClean="0"/>
              <a:t>catagory</a:t>
            </a:r>
            <a:endParaRPr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</a:defRPr>
            </a:pPr>
            <a:r>
              <a:t>Profit Erosion &amp; Discount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</a:defRPr>
            </a:pPr>
            <a:r>
              <a:t>Power BI page: Profit Erosion  |  The key issue is balancing incremental sales against margin.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864" cy="123444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3716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rPr dirty="0"/>
              <a:t>Gross </a:t>
            </a:r>
            <a:r>
              <a:rPr lang="en-US" dirty="0" smtClean="0"/>
              <a:t>profit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13232" y="1664208"/>
            <a:ext cx="19659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dirty="0" smtClean="0"/>
              <a:t>₹</a:t>
            </a:r>
            <a:r>
              <a:rPr lang="en-US" dirty="0" smtClean="0"/>
              <a:t>13.97M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2971800" y="123444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71800" y="1234440"/>
            <a:ext cx="54864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36392" y="13716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rPr dirty="0" smtClean="0"/>
              <a:t>Discounts</a:t>
            </a:r>
            <a:r>
              <a:rPr lang="en-US" dirty="0" smtClean="0"/>
              <a:t>%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3136392" y="1664208"/>
            <a:ext cx="19659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lang="en-US" dirty="0" smtClean="0"/>
              <a:t>10.72%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5394960" y="123444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94960" y="1234440"/>
            <a:ext cx="54864" cy="1234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59552" y="13716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t>Actual Profit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9552" y="1664208"/>
            <a:ext cx="19659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lang="en-US" dirty="0" smtClean="0"/>
              <a:t>8.95M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7818120" y="123444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818120" y="1234440"/>
            <a:ext cx="54864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82712" y="1371600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t>Profit Margin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2712" y="1664208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t>22.33%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1207" y="6592824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</a:defRPr>
            </a:pPr>
            <a:r>
              <a:t>Retail Sales &amp; Business Performance Analysis  |  Power BI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836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</a:defRPr>
            </a:pPr>
            <a:r>
              <a:t>7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1718" y="2584295"/>
            <a:ext cx="5192355" cy="338105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260" y="2751671"/>
            <a:ext cx="5652836" cy="32136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</a:defRPr>
            </a:pPr>
            <a:r>
              <a:t>Regional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</a:defRPr>
            </a:pPr>
            <a:r>
              <a:t>Power BI page: Regional Performance  |  Revenue is concentrated across a set of leading states and cities.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7" y="6592824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</a:defRPr>
            </a:pPr>
            <a:r>
              <a:t>Retail Sales &amp; Business Performance Analysis  |  Power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836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</a:defRPr>
            </a:pPr>
            <a:r>
              <a:t>8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" y="1180551"/>
            <a:ext cx="5468389" cy="332217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933" y="969264"/>
            <a:ext cx="5058481" cy="384776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1406" y="4779638"/>
            <a:ext cx="5077534" cy="18131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0F172A"/>
                </a:solidFill>
              </a:defRPr>
            </a:pPr>
            <a:r>
              <a:t>Returns, Cancellations &amp; Revenue Leakage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</a:defRPr>
            </a:pPr>
            <a:r>
              <a:t>Power BI page: Returns &amp; Leakage  |  46 invoices are affected by returns/cancellations.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1488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4864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280160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t>Cancelled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18745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lang="en-US" dirty="0" smtClean="0"/>
              <a:t>57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2880360" y="1143000"/>
            <a:ext cx="21488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80360" y="1143000"/>
            <a:ext cx="54864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44952" y="1280160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t>Returned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572768"/>
            <a:ext cx="18745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lang="en-US" dirty="0" smtClean="0"/>
              <a:t>37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5212080" y="1143000"/>
            <a:ext cx="21488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212080" y="1143000"/>
            <a:ext cx="54864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76672" y="1280160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rPr lang="en-US" dirty="0" smtClean="0"/>
              <a:t>Cancel return rate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5319037" y="1557043"/>
            <a:ext cx="18745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rPr lang="en-US" dirty="0" smtClean="0"/>
              <a:t>94</a:t>
            </a:r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7543800" y="1143000"/>
            <a:ext cx="54864" cy="118872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803836" y="1151174"/>
            <a:ext cx="16916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875520" y="1143000"/>
            <a:ext cx="54864" cy="118872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90641" y="134874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</a:defRPr>
            </a:pPr>
            <a:r>
              <a:rPr dirty="0"/>
              <a:t>Leakage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1490472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t>₹33.25L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897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75569"/>
                </a:solidFill>
              </a:defRPr>
            </a:pPr>
            <a:r>
              <a:t>Electronics contributes ≈59% of associated return/cancellation revenue; November 2025 records the largest monthly leakage at ₹5.83L.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1207" y="6592824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4748B"/>
                </a:solidFill>
              </a:defRPr>
            </a:pPr>
            <a:r>
              <a:t>Retail Sales &amp; Business Performance Analysis  |  Power BI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836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</a:defRPr>
            </a:pPr>
            <a:r>
              <a:t>9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" y="2580185"/>
            <a:ext cx="5517827" cy="3038803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8043" y="2516283"/>
            <a:ext cx="5093266" cy="40874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FFFFFF"/>
                </a:solidFill>
              </a:defRPr>
            </a:pPr>
            <a:r>
              <a:t>The project converts invoice-level transactions into a management view of growth, profitability and leakage.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999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34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234440"/>
            <a:ext cx="8778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₹4.06 Cr net sales and ₹90.65L profit.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7568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999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756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075688"/>
            <a:ext cx="8778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Electronics contributes approximately 70% of sales.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16936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999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169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Customer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916936"/>
            <a:ext cx="8778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Multi-item baskets dominate and carry much higher average value.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58184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999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581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Promotion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758184"/>
            <a:ext cx="8778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10–20% discounts and festive campaigns are associated with strong sales performance; margin must be tracked alongside volume.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99432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999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599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Leakage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599432"/>
            <a:ext cx="8778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≈8% of invoices are affected by returns/cancellations, with Electronics contributing the largest associated revenue.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150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The biggest opportunity is balancing sales growth with basket expansion, controlled discounting, regional optimization and reduction of revenue leakage.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65392"/>
            <a:ext cx="11155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1207" y="6592824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FFFFFF"/>
                </a:solidFill>
              </a:defRPr>
            </a:pPr>
            <a:r>
              <a:t>Retail Sales &amp; Business Performance Analysis  |  Power BI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836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633</Words>
  <Application>Microsoft Office PowerPoint</Application>
  <PresentationFormat>Widescreen</PresentationFormat>
  <Paragraphs>128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sic</cp:lastModifiedBy>
  <cp:revision>12</cp:revision>
  <dcterms:created xsi:type="dcterms:W3CDTF">2013-01-27T09:14:16Z</dcterms:created>
  <dcterms:modified xsi:type="dcterms:W3CDTF">2026-09-20T09:55:59Z</dcterms:modified>
  <cp:category/>
</cp:coreProperties>
</file>